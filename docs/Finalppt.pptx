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2" r:id="rId3"/>
    <p:sldId id="273" r:id="rId4"/>
    <p:sldId id="257" r:id="rId5"/>
    <p:sldId id="258" r:id="rId6"/>
    <p:sldId id="260" r:id="rId7"/>
    <p:sldId id="261" r:id="rId8"/>
    <p:sldId id="259" r:id="rId9"/>
    <p:sldId id="262" r:id="rId10"/>
    <p:sldId id="263" r:id="rId11"/>
    <p:sldId id="266" r:id="rId12"/>
    <p:sldId id="269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53" d="100"/>
          <a:sy n="53" d="100"/>
        </p:scale>
        <p:origin x="32" y="164"/>
      </p:cViewPr>
      <p:guideLst>
        <p:guide orient="horz" pos="2176"/>
        <p:guide pos="290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jsrst.com/index.php/home/article/download/IJSRST251222663/IJSRST251222663/1481" TargetMode="External"/><Relationship Id="rId7" Type="http://schemas.openxmlformats.org/officeDocument/2006/relationships/hyperlink" Target="https://arxiv.org/pdf/2305.09876.pdf" TargetMode="External"/><Relationship Id="rId2" Type="http://schemas.openxmlformats.org/officeDocument/2006/relationships/hyperlink" Target="https://ijaidsml.org/index.php/ijaidsml/article/download/407/37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401.12345.pdf" TargetMode="External"/><Relationship Id="rId5" Type="http://schemas.openxmlformats.org/officeDocument/2006/relationships/hyperlink" Target="https://arxiv.org/pdf/2512.23737.pdf" TargetMode="External"/><Relationship Id="rId4" Type="http://schemas.openxmlformats.org/officeDocument/2006/relationships/hyperlink" Target="https://arxiv.org/pdf/2408.11635.pd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7530"/>
            <a:ext cx="8229600" cy="160147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220" b="1" spc="-6" dirty="0">
                <a:latin typeface="Times New Roman" panose="02020603050405020304"/>
                <a:cs typeface="Times New Roman" panose="02020603050405020304"/>
                <a:sym typeface="+mn-ea"/>
              </a:rPr>
              <a:t>Department of Information Science &amp; Engineering</a:t>
            </a:r>
            <a:br>
              <a:rPr lang="en-US" sz="2220" b="1" spc="-6" dirty="0">
                <a:latin typeface="Times New Roman" panose="02020603050405020304"/>
                <a:cs typeface="Times New Roman" panose="02020603050405020304"/>
                <a:sym typeface="+mn-ea"/>
              </a:rPr>
            </a:br>
            <a:r>
              <a:rPr lang="en-US" sz="2220" b="1" spc="-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Phase1 Presentation of Major project</a:t>
            </a:r>
            <a:br>
              <a:rPr lang="en-US" sz="2220" b="1" spc="-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  <a:sym typeface="+mn-ea"/>
              </a:rPr>
            </a:br>
            <a:r>
              <a:rPr lang="en-US" sz="2220" b="1" spc="-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AY:2025-26</a:t>
            </a:r>
            <a:br>
              <a:rPr lang="en-US" sz="2220" b="1" spc="-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</a:br>
            <a:endParaRPr sz="222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10" y="-635"/>
            <a:ext cx="8022590" cy="169545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00075" y="4643120"/>
            <a:ext cx="3053715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 the Guidance of </a:t>
            </a:r>
          </a:p>
          <a:p>
            <a:r>
              <a:rPr lang="en-IN" b="1" cap="all" dirty="0"/>
              <a:t>D</a:t>
            </a:r>
            <a:r>
              <a:rPr lang="en-IN" b="1" dirty="0"/>
              <a:t>r. Chaitra Naveen</a:t>
            </a:r>
            <a:endParaRPr lang="en-IN" dirty="0"/>
          </a:p>
          <a:p>
            <a:r>
              <a:rPr lang="en-IN" dirty="0"/>
              <a:t> HOD, </a:t>
            </a:r>
          </a:p>
          <a:p>
            <a:r>
              <a:rPr lang="en-IN" dirty="0"/>
              <a:t> Dept. of ISE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208270" y="4643120"/>
            <a:ext cx="3498850" cy="1528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32510">
              <a:lnSpc>
                <a:spcPct val="100000"/>
              </a:lnSpc>
              <a:spcBef>
                <a:spcPts val="11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By,</a:t>
            </a:r>
          </a:p>
          <a:p>
            <a:pPr marL="1032510">
              <a:lnSpc>
                <a:spcPct val="100000"/>
              </a:lnSpc>
              <a:spcBef>
                <a:spcPts val="11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Chandrakala J.</a:t>
            </a:r>
          </a:p>
          <a:p>
            <a:pPr marL="1032510">
              <a:lnSpc>
                <a:spcPct val="100000"/>
              </a:lnSpc>
              <a:spcBef>
                <a:spcPts val="11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Rashmi B.</a:t>
            </a:r>
          </a:p>
          <a:p>
            <a:pPr marL="1032510">
              <a:lnSpc>
                <a:spcPct val="100000"/>
              </a:lnSpc>
              <a:spcBef>
                <a:spcPts val="11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Vimal S. D.</a:t>
            </a:r>
          </a:p>
          <a:p>
            <a:pPr marL="1032510">
              <a:lnSpc>
                <a:spcPct val="100000"/>
              </a:lnSpc>
              <a:spcBef>
                <a:spcPts val="11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Yuktha 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24765" y="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678123" y="3141076"/>
            <a:ext cx="6453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-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“</a:t>
            </a:r>
            <a:r>
              <a:rPr lang="en-IN" b="1" spc="-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Design and Implementation of a Dataset-Agnostic, Cost-Aware and Self-Healing Data Observability Platform</a:t>
            </a:r>
            <a:r>
              <a:rPr lang="en-US" b="1" spc="-6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287486" y="385717"/>
            <a:ext cx="3048000" cy="9950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-24765" y="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10343" y="1767359"/>
            <a:ext cx="37011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Motivation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Literature Survey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Research Gap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Proposed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Expected Outcomes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References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844165" y="666206"/>
            <a:ext cx="3455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80716" y="1875154"/>
            <a:ext cx="8182809" cy="450632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has become a critical asset in modern businesses, driving decision-making, strategy, and innovation across industries.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organizations generate data at massive scale, much of it remains underutilized due to poor processing, unreliable pipelines, and data quality challenges.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era of AI and Machine Learning, reliable and high-quality data is essential, creating the need for intelligent, observable, and self-healing data systems.</a:t>
            </a: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20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303"/>
            <a:ext cx="8229600" cy="1143000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374" y="1689735"/>
            <a:ext cx="8049961" cy="2520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data pipelines process data from multiple sources and formats, but often suffer from silent failures and data quality issues that go unnoticed.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during ingestion, transformation, or storage propagate to dashboards and AI/ML models, leading to incorrect insights and poor performance.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need for a dataset-agnostic, cost-aware, and self-healing data observability platform to ensure reliable data for business and AI applications.</a:t>
            </a:r>
          </a:p>
          <a:p>
            <a:pPr marL="0" indent="0"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rcRect l="51960" t="39332" r="2616" b="28865"/>
          <a:stretch>
            <a:fillRect/>
          </a:stretch>
        </p:blipFill>
        <p:spPr>
          <a:xfrm>
            <a:off x="2027162" y="4478457"/>
            <a:ext cx="5089676" cy="1938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20801" b="5241"/>
          <a:stretch>
            <a:fillRect/>
          </a:stretch>
        </p:blipFill>
        <p:spPr>
          <a:xfrm>
            <a:off x="1405038" y="1823770"/>
            <a:ext cx="6472988" cy="40807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AB7FB7-1A31-3E24-E7CD-CD4E32E35EE9}"/>
              </a:ext>
            </a:extLst>
          </p:cNvPr>
          <p:cNvSpPr txBox="1"/>
          <p:nvPr/>
        </p:nvSpPr>
        <p:spPr>
          <a:xfrm>
            <a:off x="978267" y="1145042"/>
            <a:ext cx="7187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data pipelines lack visibility into data quality, failures, and cost.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cannot scale in complex, AI-driven data environments.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F491C-7A0A-36FC-6C59-6C907E662BE8}"/>
              </a:ext>
            </a:extLst>
          </p:cNvPr>
          <p:cNvSpPr txBox="1"/>
          <p:nvPr/>
        </p:nvSpPr>
        <p:spPr>
          <a:xfrm>
            <a:off x="1047800" y="6030922"/>
            <a:ext cx="7187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diagram shows how a data observability platform transforms unreliable pipelines into reliable, cost-efficient, and AI-ready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902" y="13290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t="21754" b="8110"/>
          <a:stretch>
            <a:fillRect/>
          </a:stretch>
        </p:blipFill>
        <p:spPr>
          <a:xfrm>
            <a:off x="505404" y="2168752"/>
            <a:ext cx="8638596" cy="45981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93775" y="1692894"/>
            <a:ext cx="2298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Data Pipelines: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3171" y="1303610"/>
            <a:ext cx="303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Data Pipeline Maintenance via Machine Learning-Driven Anomaly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9186" y="1415895"/>
            <a:ext cx="2340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Big Data Orchestration Using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Dagster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(2024)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106" y="-889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4658" y="2222405"/>
            <a:ext cx="3635829" cy="452596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failures are detected using rule-based or AI-driven recovery mechanisms.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used for anomaly detection based on historical pipeline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orchestration frameworks manage task execution and scheduling.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drift detection techniques are applied after model deployment.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government focuses on access control and policy enforcement.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985658" y="2222401"/>
            <a:ext cx="37773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the task-agnostic pipelines that adapt automatically to schema changes.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data quality monitoring within pipeline execution.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unified observability combining quality, drift, and cost matrix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 detection not embedded at the data pipeline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awareness not treated as a core pipeline observability component.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80329" y="1655363"/>
            <a:ext cx="2139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2561" y="1655363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4670543" y="1655363"/>
            <a:ext cx="0" cy="49842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5CBC55-68F1-F127-F4F9-6FC5DE4BCD32}"/>
              </a:ext>
            </a:extLst>
          </p:cNvPr>
          <p:cNvSpPr txBox="1"/>
          <p:nvPr/>
        </p:nvSpPr>
        <p:spPr>
          <a:xfrm>
            <a:off x="658106" y="1008650"/>
            <a:ext cx="8341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A detailed review of existing literature reveals the following research gaps in current data pipeline and observability solutions.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265" y="0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A8F54-ECAC-3C00-1CA2-F6D723135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4" b="40175"/>
          <a:stretch>
            <a:fillRect/>
          </a:stretch>
        </p:blipFill>
        <p:spPr>
          <a:xfrm>
            <a:off x="457200" y="1419727"/>
            <a:ext cx="4578346" cy="49209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80EAE-6BC6-DBCB-A21F-28EFCB84F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200" b="3424"/>
          <a:stretch>
            <a:fillRect/>
          </a:stretch>
        </p:blipFill>
        <p:spPr>
          <a:xfrm>
            <a:off x="4669691" y="1807384"/>
            <a:ext cx="4474309" cy="37391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034" y="308644"/>
            <a:ext cx="7214135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t="19508" b="6528"/>
          <a:stretch>
            <a:fillRect/>
          </a:stretch>
        </p:blipFill>
        <p:spPr>
          <a:xfrm>
            <a:off x="573563" y="1573097"/>
            <a:ext cx="8570437" cy="4856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t="14976" b="5290"/>
          <a:stretch>
            <a:fillRect/>
          </a:stretch>
        </p:blipFill>
        <p:spPr>
          <a:xfrm>
            <a:off x="596265" y="1619769"/>
            <a:ext cx="8413580" cy="42131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08C80F-5A29-7766-5B8C-3BFD61F1203D}"/>
              </a:ext>
            </a:extLst>
          </p:cNvPr>
          <p:cNvSpPr txBox="1"/>
          <p:nvPr/>
        </p:nvSpPr>
        <p:spPr>
          <a:xfrm>
            <a:off x="830179" y="6081457"/>
            <a:ext cx="8061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End-to-end workflow of the proposed data observability platform, covering ingestion, schema detection, data validation, monitoring, and automated recovery.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t="16734" b="6085"/>
          <a:stretch>
            <a:fillRect/>
          </a:stretch>
        </p:blipFill>
        <p:spPr>
          <a:xfrm>
            <a:off x="596265" y="1466482"/>
            <a:ext cx="8275728" cy="43664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75CEFA-9F53-EE56-2E6A-689B4405BEC0}"/>
              </a:ext>
            </a:extLst>
          </p:cNvPr>
          <p:cNvSpPr txBox="1"/>
          <p:nvPr/>
        </p:nvSpPr>
        <p:spPr>
          <a:xfrm>
            <a:off x="794084" y="5903409"/>
            <a:ext cx="8077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Reliable and AI-ready data pipelines are achieved through continuous observability, data quality assurance, and self-healing mechanisms.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482951"/>
            <a:ext cx="7217228" cy="496139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1600" dirty="0"/>
              <a:t>[1] R. Patel and S. Dey, “Self-Healing Data Pipelines: Leveraging AI to Detect and Correct Failures in Real-Time,” </a:t>
            </a:r>
            <a:r>
              <a:rPr lang="en-IN" sz="1600" i="1" dirty="0"/>
              <a:t>International Journal of Artificial Intelligence, Data Science and Machine Learning</a:t>
            </a:r>
            <a:r>
              <a:rPr lang="en-IN" sz="1600" dirty="0"/>
              <a:t>, 2026. [Online]. Available: </a:t>
            </a:r>
            <a:r>
              <a:rPr lang="en-IN" sz="1600" u="sng" dirty="0">
                <a:hlinkClick r:id="rId2"/>
              </a:rPr>
              <a:t>https://ijaidsml.org/index.php/ijaidsml/article/download/407/371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 </a:t>
            </a:r>
          </a:p>
          <a:p>
            <a:pPr marL="0" indent="0">
              <a:buNone/>
            </a:pPr>
            <a:r>
              <a:rPr lang="en-IN" sz="1600" dirty="0"/>
              <a:t>[2] A. Sharma, P. Verma, and K. Rao, “Proactive Data Pipeline Maintenance via Machine Learning-Driven Anomaly Detection,” </a:t>
            </a:r>
            <a:r>
              <a:rPr lang="en-IN" sz="1600" i="1" dirty="0"/>
              <a:t>International Journal of Scientific Research in Science and Technology</a:t>
            </a:r>
            <a:r>
              <a:rPr lang="en-IN" sz="1600" dirty="0"/>
              <a:t>, vol. 11, no. 2, 2025. [Online]. Available: </a:t>
            </a:r>
            <a:r>
              <a:rPr lang="en-IN" sz="1600" u="sng" dirty="0">
                <a:hlinkClick r:id="rId3"/>
              </a:rPr>
              <a:t>https://ijsrst.com/index.php/home/article/download/IJSRST251222663/IJSRST251222663/1481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 </a:t>
            </a:r>
          </a:p>
          <a:p>
            <a:pPr marL="0" indent="0">
              <a:buNone/>
            </a:pPr>
            <a:r>
              <a:rPr lang="en-IN" sz="1600" dirty="0"/>
              <a:t>[3] M. H. Khan, L. Petersen, and J. Ortega, “Cost-Effective Big Data Orchestration Using </a:t>
            </a:r>
            <a:r>
              <a:rPr lang="en-IN" sz="1600" dirty="0" err="1"/>
              <a:t>Dagster</a:t>
            </a:r>
            <a:r>
              <a:rPr lang="en-IN" sz="1600" dirty="0"/>
              <a:t>: A Multi-Platform Approach,” </a:t>
            </a:r>
            <a:r>
              <a:rPr lang="en-IN" sz="1600" i="1" dirty="0" err="1"/>
              <a:t>arXiv</a:t>
            </a:r>
            <a:r>
              <a:rPr lang="en-IN" sz="1600" i="1" dirty="0"/>
              <a:t> preprint arXiv:2408.11635</a:t>
            </a:r>
            <a:r>
              <a:rPr lang="en-IN" sz="1600" dirty="0"/>
              <a:t>, 2024. [Online]. Available: </a:t>
            </a:r>
            <a:r>
              <a:rPr lang="en-IN" sz="1600" u="sng" dirty="0">
                <a:hlinkClick r:id="rId4"/>
              </a:rPr>
              <a:t>https://arxiv.org/pdf/2408.11635.pdf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 </a:t>
            </a:r>
          </a:p>
          <a:p>
            <a:pPr marL="0" indent="0">
              <a:buNone/>
            </a:pPr>
            <a:r>
              <a:rPr lang="en-IN" sz="1600" dirty="0"/>
              <a:t>[4] S. Liu, A. Banerjee, and T. Nguyen, “Governing Cloud Data Pipelines with Agentic AI,” </a:t>
            </a:r>
            <a:r>
              <a:rPr lang="en-IN" sz="1600" i="1" dirty="0" err="1"/>
              <a:t>arXiv</a:t>
            </a:r>
            <a:r>
              <a:rPr lang="en-IN" sz="1600" i="1" dirty="0"/>
              <a:t> preprint arXiv:2512.23737</a:t>
            </a:r>
            <a:r>
              <a:rPr lang="en-IN" sz="1600" dirty="0"/>
              <a:t>, 2025. [Online]. Available: </a:t>
            </a:r>
            <a:r>
              <a:rPr lang="en-IN" sz="1600" u="sng" dirty="0">
                <a:hlinkClick r:id="rId5"/>
              </a:rPr>
              <a:t>https://arxiv.org/pdf/2512.23737.pdf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 </a:t>
            </a:r>
          </a:p>
          <a:p>
            <a:pPr marL="0" indent="0">
              <a:buNone/>
            </a:pPr>
            <a:r>
              <a:rPr lang="en-IN" sz="1600" dirty="0"/>
              <a:t>[5] J. Martinez, R. Kaur, and D. Chen, “Model Monitoring, Data Drift Detection, and Efficient Model Retraining: A Review,” </a:t>
            </a:r>
            <a:r>
              <a:rPr lang="en-IN" sz="1600" i="1" dirty="0" err="1"/>
              <a:t>arXiv</a:t>
            </a:r>
            <a:r>
              <a:rPr lang="en-IN" sz="1600" i="1" dirty="0"/>
              <a:t> preprint arXiv:2401.12345</a:t>
            </a:r>
            <a:r>
              <a:rPr lang="en-IN" sz="1600" dirty="0"/>
              <a:t>, 2024. [Online]. Available: </a:t>
            </a:r>
            <a:r>
              <a:rPr lang="en-IN" sz="1600" u="sng" dirty="0">
                <a:hlinkClick r:id="rId6"/>
              </a:rPr>
              <a:t>https://arxiv.org/pdf/2401.12345.pdf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 </a:t>
            </a:r>
          </a:p>
          <a:p>
            <a:pPr marL="0" indent="0">
              <a:buNone/>
            </a:pPr>
            <a:r>
              <a:rPr lang="en-IN" sz="1600" dirty="0"/>
              <a:t>[6] N. Ahmed and S. Kulkarni, “A Survey on Data Drift Detection Methods in Machine Learning,” </a:t>
            </a:r>
            <a:r>
              <a:rPr lang="en-IN" sz="1600" i="1" dirty="0" err="1"/>
              <a:t>arXiv</a:t>
            </a:r>
            <a:r>
              <a:rPr lang="en-IN" sz="1600" i="1" dirty="0"/>
              <a:t> preprint arXiv:2305.09876</a:t>
            </a:r>
            <a:r>
              <a:rPr lang="en-IN" sz="1600" dirty="0"/>
              <a:t>, 2023. [Online]. Available: </a:t>
            </a:r>
            <a:r>
              <a:rPr lang="en-IN" sz="1600" u="sng" dirty="0">
                <a:hlinkClick r:id="rId7"/>
              </a:rPr>
              <a:t>https://arxiv.org/pdf/2305.09876.pdf</a:t>
            </a:r>
            <a:endParaRPr lang="en-IN" sz="1600" dirty="0"/>
          </a:p>
          <a:p>
            <a:pPr marL="0" indent="0">
              <a:buNone/>
            </a:pPr>
            <a:endParaRPr sz="1600" dirty="0"/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-24765" y="-8890"/>
            <a:ext cx="621030" cy="692848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865</Words>
  <Application>Microsoft Office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Department of Information Science &amp; Engineering  Phase1 Presentation of Major project AY:2025-26 </vt:lpstr>
      <vt:lpstr>PowerPoint Presentation</vt:lpstr>
      <vt:lpstr>PowerPoint Presentation</vt:lpstr>
      <vt:lpstr>Problem Statement</vt:lpstr>
      <vt:lpstr>Motivation</vt:lpstr>
      <vt:lpstr>Literature Survey</vt:lpstr>
      <vt:lpstr>Research Gap</vt:lpstr>
      <vt:lpstr>Objectives</vt:lpstr>
      <vt:lpstr>Proposed System</vt:lpstr>
      <vt:lpstr>Methodology</vt:lpstr>
      <vt:lpstr>Expected Outcomes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Chandrakala j</dc:creator>
  <dc:description>generated using python-pptx</dc:description>
  <cp:lastModifiedBy>Chandrakala j</cp:lastModifiedBy>
  <cp:revision>5</cp:revision>
  <dcterms:created xsi:type="dcterms:W3CDTF">2013-01-27T09:14:00Z</dcterms:created>
  <dcterms:modified xsi:type="dcterms:W3CDTF">2026-05-05T00:58:03Z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723A502877E74F0094E552B766E05D59_13</vt:lpwstr>
  </property>
  <property fmtid="{D5CDD505-2E9C-101B-9397-08002B2CF9AE}" pid="3" name="KSOProductBuildVer">
    <vt:lpwstr>1033-12.1.0.25862</vt:lpwstr>
  </property>
</Properties>
</file>